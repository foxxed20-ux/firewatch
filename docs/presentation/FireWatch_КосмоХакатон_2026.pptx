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cd79271ef94455" /><Relationship Type="http://schemas.openxmlformats.org/officeDocument/2006/relationships/extended-properties" Target="/docProps/app.xml" Id="Rada56baf137d4e02" /><Relationship Type="http://schemas.openxmlformats.org/officeDocument/2006/relationships/officeDocument" Target="/ppt/presentation.xml" Id="R8c9ddff8d9d143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59604097274fd9"/>
  </p:sldMasterIdLst>
  <p:notesMasterIdLst>
    <p:notesMasterId xmlns:r="http://schemas.openxmlformats.org/officeDocument/2006/relationships" r:id="R23cb84ca122b4ffa"/>
  </p:notesMasterIdLst>
  <p:sldIdLst>
    <p:sldId xmlns:r="http://schemas.openxmlformats.org/officeDocument/2006/relationships" id="256" r:id="R601541d2361a4b59"/>
    <p:sldId xmlns:r="http://schemas.openxmlformats.org/officeDocument/2006/relationships" id="257" r:id="Rbbcb3499280a4fa7"/>
    <p:sldId xmlns:r="http://schemas.openxmlformats.org/officeDocument/2006/relationships" id="258" r:id="Rb3fa7b0f7e414a21"/>
    <p:sldId xmlns:r="http://schemas.openxmlformats.org/officeDocument/2006/relationships" id="259" r:id="R7a060b04a54e4a16"/>
    <p:sldId xmlns:r="http://schemas.openxmlformats.org/officeDocument/2006/relationships" id="260" r:id="R7b2dab66c172416d"/>
    <p:sldId xmlns:r="http://schemas.openxmlformats.org/officeDocument/2006/relationships" id="261" r:id="R28d8ba8ed8994283"/>
    <p:sldId xmlns:r="http://schemas.openxmlformats.org/officeDocument/2006/relationships" id="262" r:id="R2258d937a3b34780"/>
    <p:sldId xmlns:r="http://schemas.openxmlformats.org/officeDocument/2006/relationships" id="263" r:id="R2c7e6624f63349d6"/>
    <p:sldId xmlns:r="http://schemas.openxmlformats.org/officeDocument/2006/relationships" id="264" r:id="R4f6d2f2b9dc840e9"/>
    <p:sldId xmlns:r="http://schemas.openxmlformats.org/officeDocument/2006/relationships" id="265" r:id="R1e3211bdc9d347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22d0b3e8594b99" /><Relationship Type="http://schemas.openxmlformats.org/officeDocument/2006/relationships/slideMaster" Target="/ppt/slideMasters/slideMaster1.xml" Id="Rf659604097274fd9" /><Relationship Type="http://schemas.openxmlformats.org/officeDocument/2006/relationships/notesMaster" Target="/ppt/notesMasters/notesMaster1.xml" Id="R23cb84ca122b4ffa" /><Relationship Type="http://schemas.openxmlformats.org/officeDocument/2006/relationships/presProps" Target="/ppt/presProps.xml" Id="R6d74ae7197174f86" /><Relationship Type="http://schemas.openxmlformats.org/officeDocument/2006/relationships/tableStyles" Target="/ppt/tableStyles.xml" Id="Refc4c50035f94a3b" /><Relationship Type="http://schemas.openxmlformats.org/officeDocument/2006/relationships/slide" Target="/ppt/slides/slide1.xml" Id="R601541d2361a4b59" /><Relationship Type="http://schemas.openxmlformats.org/officeDocument/2006/relationships/slide" Target="/ppt/slides/slide2.xml" Id="Rbbcb3499280a4fa7" /><Relationship Type="http://schemas.openxmlformats.org/officeDocument/2006/relationships/slide" Target="/ppt/slides/slide3.xml" Id="Rb3fa7b0f7e414a21" /><Relationship Type="http://schemas.openxmlformats.org/officeDocument/2006/relationships/slide" Target="/ppt/slides/slide4.xml" Id="R7a060b04a54e4a16" /><Relationship Type="http://schemas.openxmlformats.org/officeDocument/2006/relationships/slide" Target="/ppt/slides/slide5.xml" Id="R7b2dab66c172416d" /><Relationship Type="http://schemas.openxmlformats.org/officeDocument/2006/relationships/slide" Target="/ppt/slides/slide6.xml" Id="R28d8ba8ed8994283" /><Relationship Type="http://schemas.openxmlformats.org/officeDocument/2006/relationships/slide" Target="/ppt/slides/slide7.xml" Id="R2258d937a3b34780" /><Relationship Type="http://schemas.openxmlformats.org/officeDocument/2006/relationships/slide" Target="/ppt/slides/slide8.xml" Id="R2c7e6624f63349d6" /><Relationship Type="http://schemas.openxmlformats.org/officeDocument/2006/relationships/slide" Target="/ppt/slides/slide9.xml" Id="R4f6d2f2b9dc840e9" /><Relationship Type="http://schemas.openxmlformats.org/officeDocument/2006/relationships/slide" Target="/ppt/slides/slide10.xml" Id="R1e3211bdc9d347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8078894ecd42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1cbe5897bb43bd" /><Relationship Type="http://schemas.openxmlformats.org/officeDocument/2006/relationships/notesMaster" Target="/ppt/notesMasters/notesMaster1.xml" Id="R6d9d152a159342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6f5148f3d44b0e" /><Relationship Type="http://schemas.openxmlformats.org/officeDocument/2006/relationships/notesMaster" Target="/ppt/notesMasters/notesMaster1.xml" Id="R16f54d18171b48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18083933c244ad" /><Relationship Type="http://schemas.openxmlformats.org/officeDocument/2006/relationships/notesMaster" Target="/ppt/notesMasters/notesMaster1.xml" Id="Re52ce5757c4241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9f5fd1188e4841" /><Relationship Type="http://schemas.openxmlformats.org/officeDocument/2006/relationships/notesMaster" Target="/ppt/notesMasters/notesMaster1.xml" Id="R05d19aa1fda04b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cf3aed62b840e7" /><Relationship Type="http://schemas.openxmlformats.org/officeDocument/2006/relationships/notesMaster" Target="/ppt/notesMasters/notesMaster1.xml" Id="Rabff30d1ff5641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2093d3165e47c5" /><Relationship Type="http://schemas.openxmlformats.org/officeDocument/2006/relationships/notesMaster" Target="/ppt/notesMasters/notesMaster1.xml" Id="Rb0caefffbbc340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0eac5344c24168" /><Relationship Type="http://schemas.openxmlformats.org/officeDocument/2006/relationships/notesMaster" Target="/ppt/notesMasters/notesMaster1.xml" Id="R8c442cd9492b45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d050e90d4b4a72" /><Relationship Type="http://schemas.openxmlformats.org/officeDocument/2006/relationships/notesMaster" Target="/ppt/notesMasters/notesMaster1.xml" Id="R05407931123943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6df308d8d74430" /><Relationship Type="http://schemas.openxmlformats.org/officeDocument/2006/relationships/notesMaster" Target="/ppt/notesMasters/notesMaster1.xml" Id="Rd60321bbc04e40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2bea4dfd0e4425" /><Relationship Type="http://schemas.openxmlformats.org/officeDocument/2006/relationships/notesMaster" Target="/ppt/notesMasters/notesMaster1.xml" Id="R50cdeb56cbd741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Открывающий слайд. Визуальный источник: docs/assets/firewatch-banner.svg, собственный asset репозитория.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README.md, раздел «Задача → решение»; MODEL_API.md, с. 3, 9–15 постановки кейса по ссылке в документе.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README_MODEL.md, раздел «Данные и протокол»; MODEL_API.md, с. 9–15 постановки кейса.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docs/architecture.md, разделы «Два пути к одному инференсу» и «Запрос на анализ»; MODEL_API.md, с. 3–6 критериев оценки.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docs/architecture.md; README.md, «Архитектура»; MODEL_API.md, с. 3–6 критериев оценки.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README_MODEL.md, «Данные и протокол»; docs/evaluation.md, «Данные и отсутствие утечки»; artifacts/split.json.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V3 candidate: AF F1 0.9295086969789441; BS ensemble 25% CNN / 75% LightGBM, multipliers [1, 2.2, 2.2, 1.3]: burnIoU 0.586688701444679, mIoU severity 0.5883615062423446, Score 0.7071775413209715. V3 vs V2: +0.00446196389 Score; bootstrap 95% [−0.00139005, +0.01121531], интервал включает 0, результат условен на selected recipes. dNBR comparator: burnIoU 0.3638147045, mIoUsev 0.3542668560, пороги 0.1/0.2/0.4. Full V3 CLI: 269 чипов, 447 строк, 390.703092179 с на GPU T4/CUDA; CPU replay 129 (84 AF / 45 BS): Δ=0 во всех трёх checks. Independent CSV validator: EXIT 0, 447 data rows, exact order, canonical RLE и BS exclusivity; SHA-256 d5ba983965a146a68195bae8a38d7e53ae21fdefdf3709aade977f4eccfb739c. Это validation, не закрытый test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docs/assets/firewatch-bs-demo.png, копия artifacts/frontend/v3-bs-desktop.png. Проверенный публичный HTTPS capture: release 20260919-ensemble-4, bundle official-ensemble-v3, BS_tr_000159, 1 037,3 га, coverage 25,4%, 1 171 полигон; severity 250,6 / 178,8 / 607,9 га. Browser BS и export: PASS. Демо на train/validation, не закрытый test. Также: README.md, «Демонстрация»; docs/architecture.md, «Запрос на анализ»; docs/evaluation.md.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завершённый full V3 CLI владельца model runtime: 269 чипов, 447 строк, 390.703092179 с на GPU T4/CUDA. CPU replay 129 validation-чипов (84 AF / 45 BS): Δ=0 во всех трёх checks; обучение завершено. artifacts/ensemble-v3/evidence/submission_validation.json: EXIT 0, SHA-256 d5ba983965a146a68195bae8a38d7e53ae21fdefdf3709aade977f4eccfb739c; 447 data rows, exact order, canonical RLE, BS exclusivity. Также: README.md, «Почему решение можно проверить» и «Проверки»; docs/evaluation.md, таблица «Что подтверждает каждый вид проверки». Время относится к среде команды, не к организаторскому speed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Команда: 4_th_try. Источник: README.md, «Данные и границы применения»; docs/evaluation.md, «Готовность релизного кандидата»; CHANGELOG.md. V3 service: public E2E 91 HTTP checks / 6 jobs, browser BS/export, rollback V3→V2 на реальном BS159 и восстановление V3, parity raw mask CPU Windows/Linux на 4 сценах: PASS. Проверка hole polygon: 644 features, 616,281 га: PASS. Full V3 CLI 269/447 завершён за 390.703092179 с на GPU T4/CUDA; CPU replay 129: Δ=0 во всех трёх checks. artifacts/ensemble-v3/evidence/submission_validation.json: EXIT 0, 447 data rows, exact order, canonical RLE, BS exclusivity, SHA-256 d5ba983965a146a68195bae8a38d7e53ae21fdefdf3709aade977f4eccfb739c. Основной конкурсный репозиторий: https://gitverse.ru/hackrus.experts/kosmo-krasnoiarsk_4_th_try_106. Зеркало разработки: https://github.com/foxxed20-ux/firewatch.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62fd112bf742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3c64989bd3450f" /><Relationship Type="http://schemas.openxmlformats.org/officeDocument/2006/relationships/slideLayout" Target="/ppt/slideLayouts/slideLayout1.xml" Id="Ra71774b36f094a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1774b36f094a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f78ea3f7540d7" /><Relationship Type="http://schemas.openxmlformats.org/officeDocument/2006/relationships/image" Target="/ppt/media/image.png" Id="Rf42bef71ead04954" /><Relationship Type="http://schemas.openxmlformats.org/officeDocument/2006/relationships/image" Target="/ppt/media/image.svg" Id="Rb6d358c054e642ed" /><Relationship Type="http://schemas.openxmlformats.org/officeDocument/2006/relationships/notesSlide" Target="/ppt/notesSlides/notesSlide1.xml" Id="R726049bbaf474f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0b5a89ed74c45" /><Relationship Type="http://schemas.openxmlformats.org/officeDocument/2006/relationships/notesSlide" Target="/ppt/notesSlides/notesSlide2.xml" Id="R63280f286a1e4f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c9f5caa3d4d3a" /><Relationship Type="http://schemas.openxmlformats.org/officeDocument/2006/relationships/notesSlide" Target="/ppt/notesSlides/notesSlide3.xml" Id="Rbfe55b9a144d4a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62dc2bf124968" /><Relationship Type="http://schemas.openxmlformats.org/officeDocument/2006/relationships/notesSlide" Target="/ppt/notesSlides/notesSlide4.xml" Id="Rda00a9890b9546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e48974f3745e8" /><Relationship Type="http://schemas.openxmlformats.org/officeDocument/2006/relationships/notesSlide" Target="/ppt/notesSlides/notesSlide5.xml" Id="Re618fcb65cce41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6323d51e7b4b78" /><Relationship Type="http://schemas.openxmlformats.org/officeDocument/2006/relationships/notesSlide" Target="/ppt/notesSlides/notesSlide6.xml" Id="R56afee44289a4f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568bd0cc534f56" /><Relationship Type="http://schemas.openxmlformats.org/officeDocument/2006/relationships/chart" Target="/ppt/slides/charts/chart1.xml" Id="Rfa403353a99c4403" /><Relationship Type="http://schemas.openxmlformats.org/officeDocument/2006/relationships/notesSlide" Target="/ppt/notesSlides/notesSlide7.xml" Id="Rc250eda020334c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d51df552ed4805" /><Relationship Type="http://schemas.openxmlformats.org/officeDocument/2006/relationships/image" Target="/ppt/media/image2.png" Id="R7ad4ac4d08d64e84" /><Relationship Type="http://schemas.openxmlformats.org/officeDocument/2006/relationships/notesSlide" Target="/ppt/notesSlides/notesSlide8.xml" Id="R5152f23fe5684a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1960389db44c9" /><Relationship Type="http://schemas.openxmlformats.org/officeDocument/2006/relationships/notesSlide" Target="/ppt/notesSlides/notesSlide9.xml" Id="R5652b7f0e6de4f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4814cc55c4860" /><Relationship Type="http://schemas.openxmlformats.org/officeDocument/2006/relationships/notesSlide" Target="/ppt/notesSlides/notesSlide10.xml" Id="Raefc1e75bfbd4c4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dNBR comparator</c:v>
          </c:tx>
          <c:spPr>
            <a:solidFill xmlns:a="http://schemas.openxmlformats.org/drawingml/2006/main">
              <a:srgbClr val="78969A"/>
            </a:solidFill>
          </c:spPr>
          <c:cat>
            <c:strRef>
              <c:f>'Chart Data'!$A$2:$A$3</c:f>
              <c:strCache>
                <c:ptCount val="2"/>
                <c:pt idx="0">
                  <c:v>IoU гари</c:v>
                </c:pt>
                <c:pt idx="1">
                  <c:v>mIoU тяжести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0.363815</c:v>
                </c:pt>
                <c:pt idx="1">
                  <c:v>0.354267</c:v>
                </c:pt>
              </c:numCache>
            </c:numRef>
          </c:val>
        </c:ser>
        <c:ser>
          <c:idx val="1"/>
          <c:order val="1"/>
          <c:tx>
            <c:v>V3 BS ensemble</c:v>
          </c:tx>
          <c:spPr>
            <a:solidFill xmlns:a="http://schemas.openxmlformats.org/drawingml/2006/main">
              <a:srgbClr val="FFAE72"/>
            </a:solidFill>
          </c:spPr>
          <c:cat>
            <c:strRef>
              <c:f>'Chart Data'!$C$2:$C$3</c:f>
              <c:strCache>
                <c:ptCount val="2"/>
                <c:pt idx="0">
                  <c:v>IoU гари</c:v>
                </c:pt>
                <c:pt idx="1">
                  <c:v>mIoU тяжести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0.586689</c:v>
                </c:pt>
                <c:pt idx="1">
                  <c:v>0.588362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F6F5E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7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4C7776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071C29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F6F5ED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071C29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C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2bef71ead04954">
            <a:extLst>
              <a:ext uri="{96DAC541-7B7A-43D3-8B79-37D633B846F1}">
                <asvg:svgBlip xmlns:asvg="http://schemas.microsoft.com/office/drawing/2016/SVG/main" r:embed="Rb6d358c054e642e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3429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B862F-A155-4990-A75C-92D8E200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Мониторинг природных пожаров</a:t>
            </a:r>
          </a:p>
          <a:p xmlns:a="http://schemas.openxmlformats.org/drawingml/2006/main">
            <a:pPr algn="l">
              <a:defRPr sz="330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по спутниковым данным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266F6C-BF6F-473B-822A-597737C3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86400"/>
            <a:ext cx="733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AF: активное горение  /  BS: контуры и степень поражения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72B1CC-A661-4122-9129-D555689B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AE72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AE72"/>
                </a:solidFill>
                <a:latin typeface="Arial"/>
                <a:ea typeface="Arial"/>
                <a:cs typeface="Arial"/>
              </a:rPr>
              <a:t>КосмоХакатон 2026 · команда 4_th_try</a:t>
            </a:r>
          </a:p>
        </p:txBody>
      </p:sp>
    </p:spTree>
    <p:extLst>
      <p:ext uri="{BB962C8B-B14F-4D97-AF65-F5344CB8AC3E}">
        <p14:creationId xmlns:p14="http://schemas.microsoft.com/office/powerpoint/2010/main" val="15588906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E7BD75-87D1-40E1-9759-4E2597B7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4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590BC-768D-4B95-A9E2-9F7DD8FB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Пожар нужно увидеть в двух измерениях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91BBC1-5A37-477B-AA3F-56B3CAC2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09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FIREWATCH  /  КОСМОХАКАТОН 2026  /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6EDBB-538A-4F10-861B-E28D9FAB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333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Термоточка показывает место наблюдения, но не раскрывает масштаб последствий. FireWatch разделяет две задачи и связывает их в одном сервисе.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1AFE0-8C4D-49C5-A101-7D5BE43E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9053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1ECE7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8C337C-7841-40AD-BFDA-AB1686B5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524125"/>
            <a:ext cx="49053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9E5D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414F20-025D-4CB3-A2D2-B2593697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AF / ACTIVE FIRE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E1807B-1A66-4664-955B-959B6B56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Где горит сейчас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A73DF-2474-47B1-B600-DEB3A7C6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322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Бинарная маска активного природного горения по VIIRS и вспомогательным признакам.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F6154-6F24-48EA-B247-AA8AAFD2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765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F75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F754C"/>
                </a:solidFill>
                <a:latin typeface="Arial"/>
                <a:ea typeface="Arial"/>
                <a:cs typeface="Arial"/>
              </a:rPr>
              <a:t>BS / BURN SEVERITY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F81C6-CDF6-4022-8209-21715A93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432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05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Что пострадало после пожара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BDB483-2119-4F0C-BCCD-1E3D658C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338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Контур гари и классы слабой, средней и сильной степени поражения по Sentinel-1/2.</a:t>
            </a:r>
          </a:p>
        </p:txBody>
      </p:sp>
    </p:spTree>
    <p:extLst>
      <p:ext uri="{BB962C8B-B14F-4D97-AF65-F5344CB8AC3E}">
        <p14:creationId xmlns:p14="http://schemas.microsoft.com/office/powerpoint/2010/main" val="7965229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C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1077D6-945F-4FD8-8851-3CB527A1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AE7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2685A-F6D4-430A-9507-F322B0BC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Данные и выходы моделей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B5AD37-A5B8-4762-8BFF-C3571CC4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09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FIREWATCH  /  КОСМОХАКАТОН 2026  /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D540A-8C36-448D-B47C-38A36715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FAE72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FAE72"/>
                </a:solidFill>
                <a:latin typeface="Arial"/>
                <a:ea typeface="Arial"/>
                <a:cs typeface="Arial"/>
              </a:rPr>
              <a:t>AF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D5D317-51C8-4139-838B-95B462AD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VIIRS: 8 полос</a:t>
            </a:r>
          </a:p>
          <a:p xmlns:a="http://schemas.openxmlformats.org/drawingml/2006/main">
            <a:pPr algn="l">
              <a:defRPr sz="187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AUX: 5 признаков</a:t>
            </a:r>
          </a:p>
          <a:p xmlns:a="http://schemas.openxmlformats.org/drawingml/2006/main">
            <a:pPr algn="l">
              <a:defRPr sz="187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23 признака модели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D04FC-0F12-4539-BE92-967C8582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Результат</a:t>
            </a:r>
          </a:p>
          <a:p xmlns:a="http://schemas.openxmlformats.org/drawingml/2006/main">
            <a:pPr algn="l">
              <a:defRPr sz="2025" b="1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маска 0 /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657021-D8F2-46E3-9049-5C2D1759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28750"/>
            <a:ext cx="190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D6C7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78479F-B45F-42D5-813C-3C26DD2C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4668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FAE72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FAE72"/>
                </a:solidFill>
                <a:latin typeface="Arial"/>
                <a:ea typeface="Arial"/>
                <a:cs typeface="Arial"/>
              </a:rPr>
              <a:t>BS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C95E7-320A-46EB-8448-78136AA5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52600"/>
            <a:ext cx="5429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Sentinel-2 до / после: 20 полос</a:t>
            </a:r>
          </a:p>
          <a:p xmlns:a="http://schemas.openxmlformats.org/drawingml/2006/main">
            <a:pPr algn="l">
              <a:defRPr sz="187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Sentinel-1 до / после: 4 полосы</a:t>
            </a:r>
          </a:p>
          <a:p xmlns:a="http://schemas.openxmlformats.org/drawingml/2006/main">
            <a:pPr algn="l">
              <a:defRPr sz="187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AUX: 3 признака</a:t>
            </a:r>
          </a:p>
          <a:p xmlns:a="http://schemas.openxmlformats.org/drawingml/2006/main">
            <a:pPr algn="l">
              <a:defRPr sz="187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55 признаков модели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6C767-7BED-4339-AAE2-F1FB3B61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67125"/>
            <a:ext cx="3619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Результат</a:t>
            </a:r>
          </a:p>
          <a:p xmlns:a="http://schemas.openxmlformats.org/drawingml/2006/main">
            <a:pPr algn="l">
              <a:defRPr sz="2025" b="1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фон + классы 1 / 2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BE6AFC-1EA8-441F-AB54-53CB23C8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Читатель входных чипов проверяет имена каналов, типы, размеры и совпадение геосеток.</a:t>
            </a:r>
          </a:p>
        </p:txBody>
      </p:sp>
    </p:spTree>
    <p:extLst>
      <p:ext uri="{BB962C8B-B14F-4D97-AF65-F5344CB8AC3E}">
        <p14:creationId xmlns:p14="http://schemas.microsoft.com/office/powerpoint/2010/main" val="18140616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DC852E-6CA1-4027-886F-FBF8208C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4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D398C8-FEEE-45A0-8219-94F666EC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От запроса к карте и файлам для ГИС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84B686-A504-438D-88A6-D5891DA6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09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FIREWATCH  /  КОСМОХАКАТОН 2026  /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F52B4-92E3-44B7-876B-C9A2B9B4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7621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1ECE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183208-6423-4270-8FB9-A722C7DA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1E37D-EAE5-4470-A515-8ECF7FA0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146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632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AOI и период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05C32B-A58C-49A1-866F-35BEF52C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333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bbox, Polygon</a:t>
            </a:r>
          </a:p>
          <a:p xmlns:a="http://schemas.openxmlformats.org/drawingml/2006/main">
            <a:pPr algn="l">
              <a:defRPr sz="1125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или MultiPolygon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92ACD-5612-4EAD-BC12-F83C8443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076575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439"/>
          </a:bodyPr>
          <a:lstStyle xmlns:a="http://schemas.openxmlformats.org/drawingml/2006/main"/>
          <a:p xmlns:a="http://schemas.openxmlformats.org/drawingml/2006/main">
            <a:pPr algn="ctr">
              <a:defRPr sz="2850" b="1" i="0">
                <a:solidFill>
                  <a:srgbClr val="FF754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754C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5D7D8E-8484-405D-9AC4-9991173C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476500"/>
            <a:ext cx="17621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1ECE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D72AD8-BEF6-4BCD-994F-2A6046F0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67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BD3A55-B971-495A-93D4-C5C03C36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1146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Каталог сцен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2553F0-687E-4A45-AC68-9BC000DA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19500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45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Только явно</a:t>
            </a:r>
          </a:p>
          <a:p xmlns:a="http://schemas.openxmlformats.org/drawingml/2006/main">
            <a:pPr algn="l">
              <a:defRPr sz="1125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зарегистрированные сцены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B4A2F-2C18-4841-A624-67EF8648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076575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439"/>
          </a:bodyPr>
          <a:lstStyle xmlns:a="http://schemas.openxmlformats.org/drawingml/2006/main"/>
          <a:p xmlns:a="http://schemas.openxmlformats.org/drawingml/2006/main">
            <a:pPr algn="ctr">
              <a:defRPr sz="2850" b="1" i="0">
                <a:solidFill>
                  <a:srgbClr val="FF754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754C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4B2C5D-B7D5-4726-88D9-F444E009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76500"/>
            <a:ext cx="17621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D9C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9CCB2-A9FB-4746-A75F-05E96870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67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FF754C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F754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B27B08-61BB-47F7-BE5B-DE0394B2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1146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512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Инференс AF / BS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76811B-71B7-4206-ACCB-797A9D99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19500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333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Единый bridge</a:t>
            </a:r>
          </a:p>
          <a:p xmlns:a="http://schemas.openxmlformats.org/drawingml/2006/main">
            <a:pPr algn="l">
              <a:defRPr sz="1125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для CLI и API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A0D1D0-B3BA-4AB8-A489-8BF1016B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076575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439"/>
          </a:bodyPr>
          <a:lstStyle xmlns:a="http://schemas.openxmlformats.org/drawingml/2006/main"/>
          <a:p xmlns:a="http://schemas.openxmlformats.org/drawingml/2006/main">
            <a:pPr algn="ctr">
              <a:defRPr sz="2850" b="1" i="0">
                <a:solidFill>
                  <a:srgbClr val="FF754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754C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54BD22-7E0B-46B6-A007-8A7202DC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17621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1ECE7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401266-39A6-4C1E-AC58-4DBA9791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67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DB89C3-9F45-4BB3-91A9-C3D937D4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1146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5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Контуры и площади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1DF4FC-B3E9-4C2E-879C-4ED1F9C3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19500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443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GeoJSON, GeoTIFF</a:t>
            </a:r>
          </a:p>
          <a:p xmlns:a="http://schemas.openxmlformats.org/drawingml/2006/main">
            <a:pPr algn="l">
              <a:defRPr sz="1125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и JSON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7F3118-98C9-4E92-8BB9-FFB426B6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076575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439"/>
          </a:bodyPr>
          <a:lstStyle xmlns:a="http://schemas.openxmlformats.org/drawingml/2006/main"/>
          <a:p xmlns:a="http://schemas.openxmlformats.org/drawingml/2006/main">
            <a:pPr algn="ctr">
              <a:defRPr sz="2850" b="1" i="0">
                <a:solidFill>
                  <a:srgbClr val="FF754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754C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D88902-2661-405E-A1EB-808CE234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76500"/>
            <a:ext cx="17621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1ECE7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F89F74-0F54-467C-8B76-36424155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FC9179-4B00-4E7A-941B-06338097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1146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2917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Карта и экспорт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03045C-5D7F-4337-B020-3FDA0D4D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19500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333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Слои, статус</a:t>
            </a:r>
          </a:p>
          <a:p xmlns:a="http://schemas.openxmlformats.org/drawingml/2006/main">
            <a:pPr algn="l">
              <a:defRPr sz="1125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и скачивание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9AAA10-C156-4E23-97A2-7AAE767F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048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364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Одна логика инференса служит конкурсу и геосервису: никаких выдуманных координат для обезличенного test.</a:t>
            </a:r>
          </a:p>
        </p:txBody>
      </p:sp>
    </p:spTree>
    <p:extLst>
      <p:ext uri="{BB962C8B-B14F-4D97-AF65-F5344CB8AC3E}">
        <p14:creationId xmlns:p14="http://schemas.microsoft.com/office/powerpoint/2010/main" val="19006168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C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FB9C82-A91C-439D-A192-C99F106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AE7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CFED86-2CFB-4A71-A43C-9F35E547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Архитектура: общий runtime, разные точки входа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A6F96-FF28-4969-8172-78790DDE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09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FIREWATCH  /  КОСМОХАКАТОН 2026  /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93A14-F893-4840-B670-E56E9B05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381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69C03D-C395-4958-9BE3-AD24A792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Конкурсный CLI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63506-0AED-419D-A901-DB54B83F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2381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99F43-8098-4E7F-9258-EF478C92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Веб-карта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4C510-4C7C-46EC-9FC3-0D555127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70F451-EBA6-41FD-9E17-91FA36DC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05250"/>
            <a:ext cx="217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FastAPI + очередь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D354D9-A86B-4E3B-B922-1F0A69C7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9750"/>
            <a:ext cx="3333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50C26D-738F-4A27-94DD-F24005D2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00250"/>
            <a:ext cx="3028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competition.service_bridge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6E3D5-F344-434A-8EDD-0D39139B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09750"/>
            <a:ext cx="2381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32A00-AADF-4ACC-AF7B-DE565D33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002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AF / BS модели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3E8709-079F-438C-9D24-A0592F07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2762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EFBA5E-F8F4-4F4E-AA69-6029F96A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90525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053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Артефакты: CSV, GeoJSON, GeoTIFF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060D72-7D3D-4EA5-BBC0-E764E3C8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5265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AE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D7ADD2-A6A1-48AE-A21D-04A7DFF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5765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AE7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9C4123-3BE1-42F4-8FF2-903C559B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90800"/>
            <a:ext cx="0" cy="990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AE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E6520F-8E3D-42BF-9C67-B59F7155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85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AE7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380660-8273-4541-A116-540F20BC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0" cy="990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AE7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602F43-7C33-4265-88F4-9BDBE36C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57650"/>
            <a:ext cx="171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AE7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22A7AD-E11A-4AA5-9D77-5524B2BB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981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Модельный bridge проверяет manifest и bundle до запуска. API выдаёт job_id и хранит статус в SQLite.</a:t>
            </a:r>
          </a:p>
        </p:txBody>
      </p:sp>
    </p:spTree>
    <p:extLst>
      <p:ext uri="{BB962C8B-B14F-4D97-AF65-F5344CB8AC3E}">
        <p14:creationId xmlns:p14="http://schemas.microsoft.com/office/powerpoint/2010/main" val="17511147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9E70A6-FF84-4FA0-BF43-B1F6443F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4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EC9FF-1795-4B62-8C8F-7273042E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Протокол валидации защищает от утечки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BEEA54-1A62-4227-9CB6-B57611A2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09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FIREWATCH  /  КОСМОХАКАТОН 2026  /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170D5A-7CDD-41F8-9237-F5AF1B79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73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644 открытых train-чипа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A459A-ADEF-4065-9C63-45E31951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420 AF + 224 BS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A5BEE1-AC0D-40A1-AF06-F013340B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9715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CE9E3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BFAD44-AE9C-4C32-AE46-4E81D4AA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776287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33E4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FFCC4D-8AD6-4AA0-8650-57A257BC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860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5797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515 train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05BD23-11A0-44B7-AA93-928D7083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86075"/>
            <a:ext cx="1571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129 validation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609600" y="4000500"/>
          <a:ext xmlns:a="http://schemas.openxmlformats.org/drawingml/2006/main" cx="9715500" cy="128587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238500"/>
                <a:gridCol w="3238500"/>
                <a:gridCol w="3238500"/>
              </a:tblGrid>
              <a:tr h="4286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ED"/>
                          </a:solidFill>
                          <a:latin typeface="Arial"/>
                          <a:ea typeface="Arial"/>
                          <a:cs typeface="Arial"/>
                        </a:rPr>
                        <a:t>Задача</a:t>
                      </a:r>
                    </a:p>
                  </a:txBody>
                  <a:tcPr marL="91440" marR="91440" marT="45720" marB="45720">
                    <a:solidFill>
                      <a:srgbClr val="071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ED"/>
                          </a:solidFill>
                          <a:latin typeface="Arial"/>
                          <a:ea typeface="Arial"/>
                          <a:cs typeface="Arial"/>
                        </a:rPr>
                        <a:t>Разбиение</a:t>
                      </a:r>
                    </a:p>
                  </a:txBody>
                  <a:tcPr marL="91440" marR="91440" marT="45720" marB="45720">
                    <a:solidFill>
                      <a:srgbClr val="071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ED"/>
                          </a:solidFill>
                          <a:latin typeface="Arial"/>
                          <a:ea typeface="Arial"/>
                          <a:cs typeface="Arial"/>
                        </a:rPr>
                        <a:t>Защита от пересечения</a:t>
                      </a:r>
                    </a:p>
                  </a:txBody>
                  <a:tcPr marL="91440" marR="91440" marT="45720" marB="45720">
                    <a:solidFill>
                      <a:srgbClr val="071C29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313D"/>
                          </a:solidFill>
                          <a:latin typeface="Arial"/>
                          <a:ea typeface="Arial"/>
                          <a:cs typeface="Arial"/>
                        </a:rPr>
                        <a:t>AF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313D"/>
                          </a:solidFill>
                          <a:latin typeface="Arial"/>
                          <a:ea typeface="Arial"/>
                          <a:cs typeface="Arial"/>
                        </a:rPr>
                        <a:t>336 train / 84 validation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313D"/>
                          </a:solidFill>
                          <a:latin typeface="Arial"/>
                          <a:ea typeface="Arial"/>
                          <a:cs typeface="Arial"/>
                        </a:rPr>
                        <a:t>Изолированы геосетки</a:t>
                      </a:r>
                    </a:p>
                  </a:txBody>
                  <a:tcPr marL="91440" marR="91440" marT="45720" marB="4572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313D"/>
                          </a:solidFill>
                          <a:latin typeface="Arial"/>
                          <a:ea typeface="Arial"/>
                          <a:cs typeface="Arial"/>
                        </a:rPr>
                        <a:t>BS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313D"/>
                          </a:solidFill>
                          <a:latin typeface="Arial"/>
                          <a:ea typeface="Arial"/>
                          <a:cs typeface="Arial"/>
                        </a:rPr>
                        <a:t>179 train / 45 validation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313D"/>
                          </a:solidFill>
                          <a:latin typeface="Arial"/>
                          <a:ea typeface="Arial"/>
                          <a:cs typeface="Arial"/>
                        </a:rPr>
                        <a:t>Изолированы события и геосетки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4966E7-8AF5-4A4F-BC30-3A2D0CEC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Координаты, даты, ID событий и test metadata не входят в признаки модели.</a:t>
            </a:r>
          </a:p>
        </p:txBody>
      </p:sp>
    </p:spTree>
    <p:extLst>
      <p:ext uri="{BB962C8B-B14F-4D97-AF65-F5344CB8AC3E}">
        <p14:creationId xmlns:p14="http://schemas.microsoft.com/office/powerpoint/2010/main" val="15063934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C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2E8926-6EF4-431B-AB1E-705C3B21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AE7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46D61D-E5E8-4330-8CAE-2AD4B60A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Промежуточные метрики на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E208B-E9D6-42C9-9F03-FA15FCA4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09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FIREWATCH  /  КОСМОХАКАТОН 2026  / 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F6426-A3DC-4D8D-A303-26EA6FB9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0" i="1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1500" b="0" i="1">
                <a:solidFill>
                  <a:srgbClr val="A8D6C7"/>
                </a:solidFill>
                <a:latin typeface="Arial"/>
                <a:ea typeface="Arial"/>
                <a:cs typeface="Arial"/>
              </a:rPr>
              <a:t>Валидация на зафиксированном открытом train-разбиении. Не закрытый 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C060EB-6376-41FF-9E3B-20260DD8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AE72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AE72"/>
                </a:solidFill>
                <a:latin typeface="Arial"/>
                <a:ea typeface="Arial"/>
                <a:cs typeface="Arial"/>
              </a:rPr>
              <a:t>0.9295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6E7FBB-A73D-46A2-AE53-6FE50CB4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F1 активного горения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EBC17-AC39-4381-9E90-195DCAFA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14550"/>
            <a:ext cx="209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AE72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AE72"/>
                </a:solidFill>
                <a:latin typeface="Arial"/>
                <a:ea typeface="Arial"/>
                <a:cs typeface="Arial"/>
              </a:rPr>
              <a:t>0.5867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71773-85FA-4111-AFB4-BD7AF216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289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IoU площади гари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B8FA50-B279-4AF7-AA5C-98E8A144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1455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AE72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AE72"/>
                </a:solidFill>
                <a:latin typeface="Arial"/>
                <a:ea typeface="Arial"/>
                <a:cs typeface="Arial"/>
              </a:rPr>
              <a:t>0.5884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80E91-61B7-4FAD-B36F-84F7EE17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6289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mIoU классов тяжести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D8C8CF-2CA8-4BEF-9C34-0C9C78F1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81200"/>
            <a:ext cx="23812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8D9C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AA101D-1B1C-4D61-BA67-D569A102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1932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596"/>
          </a:bodyPr>
          <a:lstStyle xmlns:a="http://schemas.openxmlformats.org/drawingml/2006/main"/>
          <a:p xmlns:a="http://schemas.openxmlformats.org/drawingml/2006/main">
            <a:pPr algn="ctr">
              <a:defRPr sz="2850" b="1" i="0">
                <a:solidFill>
                  <a:srgbClr val="FF754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754C"/>
                </a:solidFill>
                <a:latin typeface="Arial"/>
                <a:ea typeface="Arial"/>
                <a:cs typeface="Arial"/>
              </a:rPr>
              <a:t>0.7072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A3DAC9-C3CA-4123-AD27-71240C7A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9875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934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итоговый validation Score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09600" y="3857625"/>
          <a:ext xmlns:a="http://schemas.openxmlformats.org/drawingml/2006/main" cx="5715000" cy="1952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a403353a99c4403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8FB5F1-77D2-43BA-81EC-AB56A336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052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V3 vs V2: +0.0045 Score; BS vs dNBR: +0.2229 IoU, +0.2341 mIoU.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54E602-569F-41A6-980C-9840C42C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577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bootstrap 95%: [−0,0014; +0,0112]; интервал включает 0; прирост условен на выбранных recipes.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84565B-F3B0-42AF-95FA-7109C37D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91490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834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V3: CLI 269 чипов / 447 строк — 390,7 с на T4/CUDA; CPU replay 129: Δ=0 во всех 3 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DE85B0-C793-405C-AE42-DC215791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49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dNBR comparator не является официальным baseline. CSV validator: EXIT 0; результаты не оценивают закрытый test.</a:t>
            </a:r>
          </a:p>
        </p:txBody>
      </p:sp>
    </p:spTree>
    <p:extLst>
      <p:ext uri="{BB962C8B-B14F-4D97-AF65-F5344CB8AC3E}">
        <p14:creationId xmlns:p14="http://schemas.microsoft.com/office/powerpoint/2010/main" val="5569907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3E1E5-998F-4A66-A5C1-3CEDC878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4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8D16F-AEEB-4D1C-8FE8-8D4F270E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Сервис и демонстрационный сценарий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F681AD-B07A-495D-BB08-92249BCB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09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FIREWATCH  /  КОСМОХАКАТОН 2026  / 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C9F857-5EC9-4366-818C-D916D734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81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Пользователь выбирает область и период, запускает AF, BS или обе задачи, затем получает слои, площади и экспорт.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69C2E8-8FC3-4597-8E50-F65A5414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1ECE7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30EDEC-FE57-4EFA-80C8-52832E2C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003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473646-0136-42EB-AE9E-9F5B7360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812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796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Выбор AOI</a:t>
            </a:r>
          </a:p>
          <a:p xmlns:a="http://schemas.openxmlformats.org/drawingml/2006/main">
            <a:pPr algn="l">
              <a:defRPr sz="13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и периода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0F056-DA83-44A3-9904-B828ACBF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9E5D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23851-EA56-4A34-8C80-29EB4B33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4327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754C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754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898EAC-9589-4B4F-BE3A-2A3B20F8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2422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796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Запуск</a:t>
            </a:r>
          </a:p>
          <a:p xmlns:a="http://schemas.openxmlformats.org/drawingml/2006/main">
            <a:pPr algn="l">
              <a:defRPr sz="13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задания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1D667-6FB8-44EB-B4AD-49D7E518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1ECE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1179C1-FD72-418D-A788-BEECF926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862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6637A-F115-4B05-A835-ECAEA6D9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671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796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Проверка</a:t>
            </a:r>
          </a:p>
          <a:p xmlns:a="http://schemas.openxmlformats.org/drawingml/2006/main">
            <a:pPr algn="l">
              <a:defRPr sz="13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статуса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39CFBF-EC83-478D-97FE-34E103E4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1ECE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97860B-7729-4200-94C0-EB9033C0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2917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FC7D78-56BE-4F31-ABCD-80AC4E41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1012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796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Карта и</a:t>
            </a:r>
          </a:p>
          <a:p xmlns:a="http://schemas.openxmlformats.org/drawingml/2006/main">
            <a:pPr algn="l">
              <a:defRPr sz="13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артефакты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d4ac4d08d64e84"/>
          <a:stretch xmlns:a="http://schemas.openxmlformats.org/drawingml/2006/main"/>
        </p:blipFill>
        <p:spPr>
          <a:xfrm xmlns:a="http://schemas.openxmlformats.org/drawingml/2006/main">
            <a:off x="4266248" y="2333625"/>
            <a:ext cx="5897880" cy="3686175"/>
          </a:xfrm>
          <a:prstGeom xmlns:a="http://schemas.openxmlformats.org/drawingml/2006/main" prst="roundRect">
            <a:avLst>
              <a:gd name="adj" fmla="val 3101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490F03-F1C0-4C2C-923C-C078F9D7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0769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854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Реальный UI V3: official-ensemble-v3, BS_tr_000159, 1 037,3 га, покрытие 25,4%. Train/validation-демо, не закрытый test.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DBB128-76EB-4F24-9E55-50F9298A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242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Граница корректности: «нет данных» не означает «нет пожара». Готовность модели сервис сообщает отдельно от доступности API.</a:t>
            </a:r>
          </a:p>
        </p:txBody>
      </p:sp>
    </p:spTree>
    <p:extLst>
      <p:ext uri="{BB962C8B-B14F-4D97-AF65-F5344CB8AC3E}">
        <p14:creationId xmlns:p14="http://schemas.microsoft.com/office/powerpoint/2010/main" val="10013400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C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E0545C-4B6D-4F7C-8D3A-821933B9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AE7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1FDBED-BDAF-4288-9C7C-B4BF364A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Проверяемое решение, а не только карта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C3E37-686D-4888-B752-6DC939B0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09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FIREWATCH  /  КОСМОХАКАТОН 2026  / 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3C03F-B416-4AAB-97AF-217870E9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238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8981A-B1D0-4333-BFC6-A20EBE6E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66875"/>
            <a:ext cx="1857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Контракт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32BE3C-A9E7-4A36-A4AC-14BDB42E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2877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Каналы, классы, размер, геосетки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8CBB2B-FEDE-4B5E-A606-529081E4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238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F7CF3-3CE9-4D14-94CF-0E85F0F0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1857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Конкурсный CSV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B5BC4B-E976-47CA-A34A-7C4A4983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46697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sample_submission, порядок, RLE round-trip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D058BD-11D6-482B-A26B-10508DA1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2238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BE206B-9B0B-4E70-979C-746E855B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43275"/>
            <a:ext cx="1857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Model bundle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EF2D61-5B38-411C-94D8-25B7249B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30517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manifest, SHA-256, совместимость входов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A29DD8-ECFF-46C5-B70A-BF90E620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2238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4D85C1-BA88-43EE-9C2F-022C64A2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81475"/>
            <a:ext cx="1857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REST 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774315-DF99-4039-A460-8A9BF342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14337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валидация AOI, jobs, статусы, GeoJSON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8B86E6-7927-4AAC-ADDF-F3B87449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2238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3E4A"/>
          </a:solidFill>
          <a:ln xmlns:a="http://schemas.openxmlformats.org/drawingml/2006/main" w="9525">
            <a:solidFill>
              <a:srgbClr val="4C777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310782-319A-4711-81C8-5BAF4C12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9675"/>
            <a:ext cx="1857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065EEA-904A-4883-8E03-B81BBCAD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98157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6F5E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6F5ED"/>
                </a:solidFill>
                <a:latin typeface="Arial"/>
                <a:ea typeface="Arial"/>
                <a:cs typeface="Arial"/>
              </a:rPr>
              <a:t>состояния, карта, экспорт, ошибки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51315F-4FF7-4ACA-8259-8987E3C6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19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813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A8D6C7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A8D6C7"/>
                </a:solidFill>
                <a:latin typeface="Arial"/>
                <a:ea typeface="Arial"/>
                <a:cs typeface="Arial"/>
              </a:rPr>
              <a:t>V3: CLI 447 строк за 390,7 с на T4/CUDA; CPU replay 129: Δ=0 во всех 3 checks. Это не организаторский speed score.</a:t>
            </a:r>
          </a:p>
        </p:txBody>
      </p:sp>
    </p:spTree>
    <p:extLst>
      <p:ext uri="{BB962C8B-B14F-4D97-AF65-F5344CB8AC3E}">
        <p14:creationId xmlns:p14="http://schemas.microsoft.com/office/powerpoint/2010/main" val="5617227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825E4F-649E-4C21-A6A7-4B06CEF1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4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97B4B-A471-4763-A393-915ECECA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2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Честные ограничения и следующий шаг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D4B706-26AD-4EF6-9805-D984FA62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609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FIREWATCH  /  КОСМОХАКАТОН 2026  / 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A4DCC-FE06-4D4C-83C8-EA1C1EE0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857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1ECE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040B6B-9F8C-4B68-AC5C-79030091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ЧТО УЖЕ В РЕПОЗИТОРИИ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EF6A0-4875-41A6-B059-B1BF8895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3125"/>
            <a:ext cx="3905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Исходники моделей и сервиса</a:t>
            </a:r>
          </a:p>
          <a:p xmlns:a="http://schemas.openxmlformats.org/drawingml/2006/main">
            <a:pPr algn="l">
              <a:defRPr sz="1725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Контрактные тесты</a:t>
            </a:r>
          </a:p>
          <a:p xmlns:a="http://schemas.openxmlformats.org/drawingml/2006/main">
            <a:pPr algn="l">
              <a:defRPr sz="1725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Зафиксированный split</a:t>
            </a:r>
          </a:p>
          <a:p xmlns:a="http://schemas.openxmlformats.org/drawingml/2006/main">
            <a:pPr algn="l">
              <a:defRPr sz="1725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Инструкции запуска</a:t>
            </a:r>
          </a:p>
          <a:p xmlns:a="http://schemas.openxmlformats.org/drawingml/2006/main">
            <a:pPr algn="l">
              <a:defRPr sz="1725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Архитектура и протокол оценки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C9195-1144-4D22-A745-13F6D89A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76375"/>
            <a:ext cx="4857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9E5D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A0362-3195-4B63-87D3-E1415306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F75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F754C"/>
                </a:solidFill>
                <a:latin typeface="Arial"/>
                <a:ea typeface="Arial"/>
                <a:cs typeface="Arial"/>
              </a:rPr>
              <a:t>ОСТАЛОСЬ ЗАВЕРШИТЬ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F02541-D176-4D5B-AAA5-F7F2D22B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43125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Итоговая поставка</a:t>
            </a:r>
          </a:p>
          <a:p xmlns:a="http://schemas.openxmlformats.org/drawingml/2006/main">
            <a:pPr algn="l">
              <a:defRPr sz="1725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и GitVerse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2B4003-51B9-4571-A4C3-7FC1AD25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2900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6313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313D"/>
                </a:solidFill>
                <a:latin typeface="Arial"/>
                <a:ea typeface="Arial"/>
                <a:cs typeface="Arial"/>
              </a:rPr>
              <a:t>V3 service: E2E 91 HTTP / 6 jobs; rollback и parity raw mask Windows/Linux: PASS.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E79747-C7B7-4097-816F-A1AA57FA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754C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754C"/>
                </a:solidFill>
                <a:latin typeface="Arial"/>
                <a:ea typeface="Arial"/>
                <a:cs typeface="Arial"/>
              </a:rPr>
              <a:t>Команда 4_th_try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2A4314-3BB3-4D75-B9B5-88BD0A8E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3E4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33E44"/>
                </a:solidFill>
                <a:latin typeface="Arial"/>
                <a:ea typeface="Arial"/>
                <a:cs typeface="Arial"/>
              </a:rPr>
              <a:t>Git сохраняет этапы разработки: исходники, документацию, CI и историю версий. Данные, веса и секреты остаются вне Git.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BB7F30-4B0B-4E96-A43E-B9008693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6858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2222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Конкурсный репозиторий: GitVerse · FireWatch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1BA7EC-BC41-4B81-AA13-3A5ECC1C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8858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2222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F7279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7279"/>
                </a:solidFill>
                <a:latin typeface="Arial"/>
                <a:ea typeface="Arial"/>
                <a:cs typeface="Arial"/>
              </a:rPr>
              <a:t>Зеркало разработки: GitHub · https://github.com/foxxed20-ux/firewatch</a:t>
            </a:r>
          </a:p>
        </p:txBody>
      </p:sp>
    </p:spTree>
    <p:extLst>
      <p:ext uri="{BB962C8B-B14F-4D97-AF65-F5344CB8AC3E}">
        <p14:creationId xmlns:p14="http://schemas.microsoft.com/office/powerpoint/2010/main" val="470054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2026-09-19T13:52:22.7780000Z</dcterms:created>
  <dcterms:modified xsi:type="dcterms:W3CDTF">2026-09-19T13:52:22.7780000Z</dcterms:modified>
</coreProperties>
</file>