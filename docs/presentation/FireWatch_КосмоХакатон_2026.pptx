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376611b2d493c" /><Relationship Type="http://schemas.openxmlformats.org/officeDocument/2006/relationships/extended-properties" Target="/docProps/app.xml" Id="Rcae2580a17644c30" /><Relationship Type="http://schemas.openxmlformats.org/officeDocument/2006/relationships/officeDocument" Target="/ppt/presentation.xml" Id="R1042964127ff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aae9f160ba4fa1"/>
  </p:sldMasterIdLst>
  <p:notesMasterIdLst>
    <p:notesMasterId xmlns:r="http://schemas.openxmlformats.org/officeDocument/2006/relationships" r:id="Ra8e66c85f9b34341"/>
  </p:notesMasterIdLst>
  <p:sldIdLst>
    <p:sldId xmlns:r="http://schemas.openxmlformats.org/officeDocument/2006/relationships" id="256" r:id="Rffa2f0798cc349d7"/>
    <p:sldId xmlns:r="http://schemas.openxmlformats.org/officeDocument/2006/relationships" id="257" r:id="R101a071759424e7e"/>
    <p:sldId xmlns:r="http://schemas.openxmlformats.org/officeDocument/2006/relationships" id="258" r:id="R84678c360b0e4a86"/>
    <p:sldId xmlns:r="http://schemas.openxmlformats.org/officeDocument/2006/relationships" id="259" r:id="Rce12af8eb3ac4a84"/>
    <p:sldId xmlns:r="http://schemas.openxmlformats.org/officeDocument/2006/relationships" id="260" r:id="R23fca47e4d9d4b6f"/>
    <p:sldId xmlns:r="http://schemas.openxmlformats.org/officeDocument/2006/relationships" id="261" r:id="R26cfcb05525b44c2"/>
    <p:sldId xmlns:r="http://schemas.openxmlformats.org/officeDocument/2006/relationships" id="262" r:id="R5b2b5d33e80b4fb9"/>
    <p:sldId xmlns:r="http://schemas.openxmlformats.org/officeDocument/2006/relationships" id="263" r:id="Re11adfc0ec674d21"/>
    <p:sldId xmlns:r="http://schemas.openxmlformats.org/officeDocument/2006/relationships" id="264" r:id="R0111b90d6d144eb2"/>
    <p:sldId xmlns:r="http://schemas.openxmlformats.org/officeDocument/2006/relationships" id="265" r:id="R70c4929eefdd4e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efed40ed524ea9" /><Relationship Type="http://schemas.openxmlformats.org/officeDocument/2006/relationships/slideMaster" Target="/ppt/slideMasters/slideMaster1.xml" Id="Ra5aae9f160ba4fa1" /><Relationship Type="http://schemas.openxmlformats.org/officeDocument/2006/relationships/notesMaster" Target="/ppt/notesMasters/notesMaster1.xml" Id="Ra8e66c85f9b34341" /><Relationship Type="http://schemas.openxmlformats.org/officeDocument/2006/relationships/presProps" Target="/ppt/presProps.xml" Id="Rf6884c285ca0486b" /><Relationship Type="http://schemas.openxmlformats.org/officeDocument/2006/relationships/tableStyles" Target="/ppt/tableStyles.xml" Id="R58fd9e3174954202" /><Relationship Type="http://schemas.openxmlformats.org/officeDocument/2006/relationships/slide" Target="/ppt/slides/slide1.xml" Id="Rffa2f0798cc349d7" /><Relationship Type="http://schemas.openxmlformats.org/officeDocument/2006/relationships/slide" Target="/ppt/slides/slide2.xml" Id="R101a071759424e7e" /><Relationship Type="http://schemas.openxmlformats.org/officeDocument/2006/relationships/slide" Target="/ppt/slides/slide3.xml" Id="R84678c360b0e4a86" /><Relationship Type="http://schemas.openxmlformats.org/officeDocument/2006/relationships/slide" Target="/ppt/slides/slide4.xml" Id="Rce12af8eb3ac4a84" /><Relationship Type="http://schemas.openxmlformats.org/officeDocument/2006/relationships/slide" Target="/ppt/slides/slide5.xml" Id="R23fca47e4d9d4b6f" /><Relationship Type="http://schemas.openxmlformats.org/officeDocument/2006/relationships/slide" Target="/ppt/slides/slide6.xml" Id="R26cfcb05525b44c2" /><Relationship Type="http://schemas.openxmlformats.org/officeDocument/2006/relationships/slide" Target="/ppt/slides/slide7.xml" Id="R5b2b5d33e80b4fb9" /><Relationship Type="http://schemas.openxmlformats.org/officeDocument/2006/relationships/slide" Target="/ppt/slides/slide8.xml" Id="Re11adfc0ec674d21" /><Relationship Type="http://schemas.openxmlformats.org/officeDocument/2006/relationships/slide" Target="/ppt/slides/slide9.xml" Id="R0111b90d6d144eb2" /><Relationship Type="http://schemas.openxmlformats.org/officeDocument/2006/relationships/slide" Target="/ppt/slides/slide10.xml" Id="R70c4929eefdd4e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67991492cb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6048508ef54e5b" /><Relationship Type="http://schemas.openxmlformats.org/officeDocument/2006/relationships/notesMaster" Target="/ppt/notesMasters/notesMaster1.xml" Id="R87a33bd22ee0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3d1802c4314449" /><Relationship Type="http://schemas.openxmlformats.org/officeDocument/2006/relationships/notesMaster" Target="/ppt/notesMasters/notesMaster1.xml" Id="Rcf248f6da1ff4d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80b21027734aee" /><Relationship Type="http://schemas.openxmlformats.org/officeDocument/2006/relationships/notesMaster" Target="/ppt/notesMasters/notesMaster1.xml" Id="R37243a9f94f846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8560ddb50c4077" /><Relationship Type="http://schemas.openxmlformats.org/officeDocument/2006/relationships/notesMaster" Target="/ppt/notesMasters/notesMaster1.xml" Id="Re5b360c39c1f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dad9b02f5f4f37" /><Relationship Type="http://schemas.openxmlformats.org/officeDocument/2006/relationships/notesMaster" Target="/ppt/notesMasters/notesMaster1.xml" Id="Rd2cff68b767f4f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df80b21a447ee" /><Relationship Type="http://schemas.openxmlformats.org/officeDocument/2006/relationships/notesMaster" Target="/ppt/notesMasters/notesMaster1.xml" Id="R55ad114c2a4541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beae1daf4642e1" /><Relationship Type="http://schemas.openxmlformats.org/officeDocument/2006/relationships/notesMaster" Target="/ppt/notesMasters/notesMaster1.xml" Id="R79afc59f75e148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932d6431d4401f" /><Relationship Type="http://schemas.openxmlformats.org/officeDocument/2006/relationships/notesMaster" Target="/ppt/notesMasters/notesMaster1.xml" Id="R6b1fcd9f7bc8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cb9fb4b08748d9" /><Relationship Type="http://schemas.openxmlformats.org/officeDocument/2006/relationships/notesMaster" Target="/ppt/notesMasters/notesMaster1.xml" Id="R63165a25358e48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cbe364387e4ce1" /><Relationship Type="http://schemas.openxmlformats.org/officeDocument/2006/relationships/notesMaster" Target="/ppt/notesMasters/notesMaster1.xml" Id="Rd3b9a36b2f25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Открывающий слайд. Визуальный источник: docs/assets/firewatch-banner.svg, собственный asset репозитория.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раздел «Задача → решение»; MODEL_API.md, с. 3, 9–15 постановки кейса по ссылке в документе.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README_MODEL.md, раздел «Данные и протокол»; MODEL_API.md, с. 9–15 постановки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docs/architecture.md, разделы «Два пути к одному инференсу» и «Запрос на анализ»; MODEL_API.md, с. 3–6 критериев оценки.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README.md, «Архитектура»; MODEL_API.md, с. 3–6 критериев оценки.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README_MODEL.md, «Данные и протокол»; docs/evaluation.md, «Данные и отсутствие утечки»; artifacts/split.json.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artifacts/ensemble-v2/selected_recipes.json; artifacts/tree-v1/tuned_recipes.json; artifacts/cnn-v1/af/validation_report.json; artifacts/ensemble-v2/demo_smoke/report.json. dNBR comparator: burnIoU 0.3638147045, mIoUsev 0.3542668560, пороги 0.1/0.2/0.4. CPU replay v2 на 129 validation-чипах: PASS. Это validation, не закрытый test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docs/assets/firewatch-bs-demo.png, копия artifacts/frontend/public-bs-desktop.png. Проверенный публичный HTTPS capture: official-ensemble-v2, BS_tr_000159, 938,5 га, coverage 25,4%; severity 242,9 / 176,4 / 519,1 га. Public BS GeoJSON download: PASS. Демо на train/validation, не закрытый test. Также: README.md, «Демонстрация»; docs/architecture.md, «Запрос на анализ»;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подтверждённый полный offline CLI-прогон v2 владельца model runtime: 269 чипов, 447 строк, 540,3043 с, сеть заблокирована. CPU replay всех 129 validation-чипов: PASS. Также: README.md, «Почему решение можно проверить» и «Проверки»; docs/evaluation.md, таблица «Что подтверждает каждый вид проверки». Время относится к среде команды, не к организаторскому speed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Команда: 4_th_try. Источник: README.md, «Данные и границы применения»; docs/evaluation.md, «Готовность релизного кандидата»; CHANGELOG.md. Публичный E2E, rollback и parity CPU Windows/Linux на 4 сценах: PASS. Основной конкурсный репозиторий: https://gitverse.ru/hackrus.experts/kosmo-krasnoiarsk_4_th_try_106. Зеркало разработки: https://github.com/foxxed20-ux/firewatch.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3dd5182bd4a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68884931944733" /><Relationship Type="http://schemas.openxmlformats.org/officeDocument/2006/relationships/slideLayout" Target="/ppt/slideLayouts/slideLayout1.xml" Id="R09cff8377c224b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cff8377c224b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f8b8b5a45412c" /><Relationship Type="http://schemas.openxmlformats.org/officeDocument/2006/relationships/image" Target="/ppt/media/image.png" Id="Rcf8c1caf34114afb" /><Relationship Type="http://schemas.openxmlformats.org/officeDocument/2006/relationships/image" Target="/ppt/media/image.svg" Id="Rcbe89fb029b24fe0" /><Relationship Type="http://schemas.openxmlformats.org/officeDocument/2006/relationships/notesSlide" Target="/ppt/notesSlides/notesSlide1.xml" Id="R64bbc684b18d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da195cf5d48d8" /><Relationship Type="http://schemas.openxmlformats.org/officeDocument/2006/relationships/notesSlide" Target="/ppt/notesSlides/notesSlide2.xml" Id="Rad3e207ddfad41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2589c1dcf4539" /><Relationship Type="http://schemas.openxmlformats.org/officeDocument/2006/relationships/notesSlide" Target="/ppt/notesSlides/notesSlide3.xml" Id="R8e9d169a109f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8cbd535cf4c67" /><Relationship Type="http://schemas.openxmlformats.org/officeDocument/2006/relationships/notesSlide" Target="/ppt/notesSlides/notesSlide4.xml" Id="R34347eaf174f4c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e306a26bc4b94" /><Relationship Type="http://schemas.openxmlformats.org/officeDocument/2006/relationships/notesSlide" Target="/ppt/notesSlides/notesSlide5.xml" Id="Rbdfa814048834d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715b2295d4f61" /><Relationship Type="http://schemas.openxmlformats.org/officeDocument/2006/relationships/notesSlide" Target="/ppt/notesSlides/notesSlide6.xml" Id="R05211628134b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968114b714493" /><Relationship Type="http://schemas.openxmlformats.org/officeDocument/2006/relationships/chart" Target="/ppt/slides/charts/chart1.xml" Id="R475953ac5de84c76" /><Relationship Type="http://schemas.openxmlformats.org/officeDocument/2006/relationships/notesSlide" Target="/ppt/notesSlides/notesSlide7.xml" Id="R9cc25d1bca6747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378dbf1ac4468" /><Relationship Type="http://schemas.openxmlformats.org/officeDocument/2006/relationships/image" Target="/ppt/media/image.jpeg" Id="R51d7a8f2c7f84336" /><Relationship Type="http://schemas.openxmlformats.org/officeDocument/2006/relationships/notesSlide" Target="/ppt/notesSlides/notesSlide8.xml" Id="R078c78322b7648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1c338ebb44d14" /><Relationship Type="http://schemas.openxmlformats.org/officeDocument/2006/relationships/notesSlide" Target="/ppt/notesSlides/notesSlide9.xml" Id="R643b79cadf5849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c0acf1294565" /><Relationship Type="http://schemas.openxmlformats.org/officeDocument/2006/relationships/notesSlide" Target="/ppt/notesSlides/notesSlide10.xml" Id="R333eb936a65e4db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dNBR comparator</c:v>
          </c:tx>
          <c:spPr>
            <a:solidFill xmlns:a="http://schemas.openxmlformats.org/drawingml/2006/main">
              <a:srgbClr val="78969A"/>
            </a:solidFill>
          </c:spPr>
          <c:cat>
            <c:strRef>
              <c:f>'Chart Data'!$A$2:$A$3</c:f>
              <c:strCache>
                <c:ptCount val="2"/>
                <c:pt idx="0">
                  <c:v>IoU гари</c:v>
                </c:pt>
                <c:pt idx="1">
                  <c:v>mIoU тяжести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0.3638147045</c:v>
                </c:pt>
                <c:pt idx="1">
                  <c:v>0.354266856</c:v>
                </c:pt>
              </c:numCache>
            </c:numRef>
          </c:val>
        </c:ser>
        <c:ser>
          <c:idx val="1"/>
          <c:order val="1"/>
          <c:tx>
            <c:v>Tuned LightGBM</c:v>
          </c:tx>
          <c:spPr>
            <a:solidFill xmlns:a="http://schemas.openxmlformats.org/drawingml/2006/main">
              <a:srgbClr val="FFAE72"/>
            </a:solidFill>
          </c:spPr>
          <c:cat>
            <c:strRef>
              <c:f>'Chart Data'!$C$2:$C$3</c:f>
              <c:strCache>
                <c:ptCount val="2"/>
                <c:pt idx="0">
                  <c:v>IoU гари</c:v>
                </c:pt>
                <c:pt idx="1">
                  <c:v>mIoU тяжести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0.57675420823</c:v>
                </c:pt>
                <c:pt idx="1">
                  <c:v>0.58507853536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6F5E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C777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071C2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6F5E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71C2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c1caf34114afb">
            <a:extLst>
              <a:ext uri="{96DAC541-7B7A-43D3-8B79-37D633B846F1}">
                <asvg:svgBlip xmlns:asvg="http://schemas.microsoft.com/office/drawing/2016/SVG/main" r:embed="Rcbe89fb029b24f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342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8797A-0677-4BB4-9EB7-EB4EF718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Мониторинг природных пожаров</a:t>
            </a:r>
          </a:p>
          <a:p xmlns:a="http://schemas.openxmlformats.org/drawingml/2006/main">
            <a:pPr algn="l">
              <a:defRPr sz="330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по спутниковым данным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18497-0021-4E3C-87D0-41BD95C8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8640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AF: активное горение  /  BS: контуры и степень поражения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46061-ED20-41B4-9919-A2D4947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AE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AE72"/>
                </a:solidFill>
                <a:latin typeface="Arial"/>
                <a:ea typeface="Arial"/>
                <a:cs typeface="Arial"/>
              </a:rPr>
              <a:t>КосмоХакатон 2026 · команда 4_th_try</a:t>
            </a:r>
          </a:p>
        </p:txBody>
      </p:sp>
    </p:spTree>
    <p:extLst>
      <p:ext uri="{BB962C8B-B14F-4D97-AF65-F5344CB8AC3E}">
        <p14:creationId xmlns:p14="http://schemas.microsoft.com/office/powerpoint/2010/main" val="406658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FC977-52BE-44DF-8F21-D5E4FF7E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5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1EC79-6703-4A0E-817F-3BA5C2B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Пожар нужно увидеть в двух измерениях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6215E-E612-4B07-9940-F3A820AE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FIREWATCH  /  КОСМОХАКАТОН 2026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2D213-8635-449C-B405-1DC51B46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33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Термоточка показывает место наблюдения, но не раскрывает масштаб последствий. FireWatch разделяет две задачи и связывает их в одном сервисе.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56156-0946-4436-ABA6-4FF5D148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053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D6580-B9A1-4453-96D5-8C385EC8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24125"/>
            <a:ext cx="49053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9E5D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4CEBC-9720-4AFD-BE43-0475E1D8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AF / ACTIVE FIRE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85C5F-3C63-4357-951A-8EBC3C0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Где горит сейчас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860E9-9CDE-4759-B012-1A9068BD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22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Бинарная маска активного природного горения по VIIRS и вспомогательным признакам.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B3DF8-3479-4A98-AB77-3F80138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76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BS / BURN SEVERITY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C623F-9E6A-479F-B9B7-7AE09C69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43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05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Что пострадало после пожара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2C2C2-43F5-4C10-AFFD-F3EAF930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338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3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Контур гари и классы слабой, средней и сильной степени поражения по Sentinel-1/2.</a:t>
            </a:r>
          </a:p>
        </p:txBody>
      </p:sp>
    </p:spTree>
    <p:extLst>
      <p:ext uri="{BB962C8B-B14F-4D97-AF65-F5344CB8AC3E}">
        <p14:creationId xmlns:p14="http://schemas.microsoft.com/office/powerpoint/2010/main" val="1293564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6FC54-3B9D-46D4-841B-2808A126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E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23B33-FE03-4B88-B7FE-FCBD282B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Данные и выходы моделей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22787-F2F0-46DE-9D5B-966734A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FIREWATCH  /  КОСМОХАКАТОН 2026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9AA3E-873C-456F-84A5-171744B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AE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AE72"/>
                </a:solidFill>
                <a:latin typeface="Arial"/>
                <a:ea typeface="Arial"/>
                <a:cs typeface="Arial"/>
              </a:rPr>
              <a:t>AF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0546C-F466-4DB6-A236-D377C0EF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VIIRS: 8 полос</a:t>
            </a:r>
          </a:p>
          <a:p xmlns:a="http://schemas.openxmlformats.org/drawingml/2006/main">
            <a:pPr algn="l">
              <a:defRPr sz="187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AUX: 5 признаков</a:t>
            </a:r>
          </a:p>
          <a:p xmlns:a="http://schemas.openxmlformats.org/drawingml/2006/main">
            <a:pPr algn="l">
              <a:defRPr sz="187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23 признака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61D78-4F7E-4940-BE9F-543B0FC9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Результат</a:t>
            </a:r>
          </a:p>
          <a:p xmlns:a="http://schemas.openxmlformats.org/drawingml/2006/main">
            <a:pPr algn="l">
              <a:defRPr sz="20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маска 0 /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2AFA1-1FE9-4EB7-861F-F52879D5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6C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80F8E-A8EE-4C37-8651-6F6E0A0E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66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AE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AE72"/>
                </a:solidFill>
                <a:latin typeface="Arial"/>
                <a:ea typeface="Arial"/>
                <a:cs typeface="Arial"/>
              </a:rPr>
              <a:t>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910DD-A787-41D8-929C-CCA6F17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52600"/>
            <a:ext cx="542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Sentinel-2 до / после: 20 полос</a:t>
            </a:r>
          </a:p>
          <a:p xmlns:a="http://schemas.openxmlformats.org/drawingml/2006/main">
            <a:pPr algn="l">
              <a:defRPr sz="187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Sentinel-1 до / после: 4 полосы</a:t>
            </a:r>
          </a:p>
          <a:p xmlns:a="http://schemas.openxmlformats.org/drawingml/2006/main">
            <a:pPr algn="l">
              <a:defRPr sz="187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AUX: 3 признака</a:t>
            </a:r>
          </a:p>
          <a:p xmlns:a="http://schemas.openxmlformats.org/drawingml/2006/main">
            <a:pPr algn="l">
              <a:defRPr sz="187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55 признаков модели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E8EF8-3037-4D57-90BD-380EB22B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671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Результат</a:t>
            </a:r>
          </a:p>
          <a:p xmlns:a="http://schemas.openxmlformats.org/drawingml/2006/main">
            <a:pPr algn="l">
              <a:defRPr sz="20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фон + классы 1 / 2 /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5110E-EEFD-40BD-BEDA-28533AEC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Читатель входных чипов проверяет имена каналов, типы, размеры и совпадение геосеток.</a:t>
            </a:r>
          </a:p>
        </p:txBody>
      </p:sp>
    </p:spTree>
    <p:extLst>
      <p:ext uri="{BB962C8B-B14F-4D97-AF65-F5344CB8AC3E}">
        <p14:creationId xmlns:p14="http://schemas.microsoft.com/office/powerpoint/2010/main" val="961893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69736-D692-4F1A-88FB-18C5CC33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5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CF1A2-75BB-498A-B09F-158C810B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От запроса к карте и файлам для ГИС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D0C96-2E27-4E58-A3B7-1EBC3B55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FIREWATCH  /  КОСМОХАКАТОН 2026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0CABF-ACC0-47F4-B8BF-E92BC514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80099-B1EB-436B-BECD-293E47DE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6B153-486E-4EAC-A6DC-07B7611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3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AOI и период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70E29-B585-4911-AC05-2E561EB3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bbox, Polygon</a:t>
            </a:r>
          </a:p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или MultiPolygon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10F8E-055F-4F5B-B4DD-0D30B96B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765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D984C-84C2-47EE-8B7C-CBEE141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A138E-9B4E-40CE-942B-ECB9373A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00881-A408-42B9-8B09-FA9970E5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Каталог сцен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3112A-7A96-43CF-80E1-2395E17C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195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45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Только явно</a:t>
            </a:r>
          </a:p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зарегистрированные сцены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B46EB-5CA4-4424-BDA6-C21B555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765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F7200-E1BF-4958-8665-794CBB95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D9C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E6169-EEA8-49DE-83B1-D35558BC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63FCA-0F34-4135-8D73-2C9B7CB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14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51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Инференс AF / 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0E5BD-42F4-4A17-9D27-5E223B5E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195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Единый bridge</a:t>
            </a:r>
          </a:p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для CLI и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E2814-805A-4E19-B0C2-247506A2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765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4E036-23F7-4BDD-BD6C-B810312A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9C0E2-5C9C-4477-A040-E6B49593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67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6E52C-F242-4389-86E1-F4B7A80C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14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Контуры и площади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C8688-7921-4089-B1BB-F8A979B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195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4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GeoJSON, GeoTIFF</a:t>
            </a:r>
          </a:p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и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F9211-D1EB-4ACA-AE50-4380AF98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7657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B1B00-2A97-4BED-A8EA-E63BE90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762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34AC5-38AE-48C4-8589-3F227EC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E59AB-27B5-4AC3-8339-D698982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146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91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Карта и экспорт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3243A-F1F5-4D9D-B82D-8756288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Слои, статус</a:t>
            </a:r>
          </a:p>
          <a:p xmlns:a="http://schemas.openxmlformats.org/drawingml/2006/main">
            <a:pPr algn="l">
              <a:defRPr sz="1125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и скачивание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12925-A530-4F5E-9A42-13D64305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04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64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Одна логика инференса служит конкурсу и геосервису: никаких выдуманных координат для обезличенного test.</a:t>
            </a:r>
          </a:p>
        </p:txBody>
      </p:sp>
    </p:spTree>
    <p:extLst>
      <p:ext uri="{BB962C8B-B14F-4D97-AF65-F5344CB8AC3E}">
        <p14:creationId xmlns:p14="http://schemas.microsoft.com/office/powerpoint/2010/main" val="255724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6E19A-E171-4171-86C3-673DD1F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E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6B6A3-4E02-4CAC-874A-E8B9382D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Архитектура: общий runtime, разные точки входа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D7852-D8A4-45DD-9D90-385C5AE3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FIREWATCH  /  КОСМОХАКАТОН 2026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BD494-29A8-4147-8A85-5E12488A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26030-6FD4-4EA8-B321-5A86FB0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Конкурсный CLI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C6AF5-DE27-4DEA-AC90-6A155EE6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EB01A-D648-4989-94A6-AB3EF974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Веб-карта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9F802-DF45-40D1-8BAE-C1EE13E0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6F9B4-23E0-4219-9619-FA50A7E3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FastAPI + очередь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84387-B693-43AC-82D0-F7159B91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054AE-A15C-424B-89D8-CF9D9A2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02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competition.service_bridge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E3F7A-06A0-4C0F-BDE5-0C3AA9C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89B6E-292F-4FC5-9616-C850F65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AF / BS 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F171F-536A-4865-A00E-AE4942CE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76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D994B-AF22-4026-A624-431D136A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05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Артефакты: CSV, GeoJSON, GeoTIFF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7B939-9A97-41B8-9097-28687F38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E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7384F-8130-4CB2-8DE9-A430CC99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E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F1248-CF0B-4903-B797-43319AC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E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C08BB-15E6-4277-A429-9436336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E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4D1850-8F4B-4477-9389-763DC9D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E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4DACD-4741-4EAD-BD14-C6A642A1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E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938FB-61CC-4507-A467-99481650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Модельный bridge проверяет manifest и bundle до запуска. API выдаёт job_id и хранит статус в SQLite.</a:t>
            </a:r>
          </a:p>
        </p:txBody>
      </p:sp>
    </p:spTree>
    <p:extLst>
      <p:ext uri="{BB962C8B-B14F-4D97-AF65-F5344CB8AC3E}">
        <p14:creationId xmlns:p14="http://schemas.microsoft.com/office/powerpoint/2010/main" val="1408632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62B0D-818B-4F68-975C-57DD0045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5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95494-215A-4544-AC9D-0E527CF3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Протокол валидации защищает от утечки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E0EEA-65CF-4428-B72B-842E5C2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FIREWATCH  /  КОСМОХАКАТОН 2026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47F71-CA0F-4163-91F2-F4F35B4A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3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644 открытых train-чипа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E34AB-EF35-4143-9060-95345525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420 AF + 224 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F03AF-7E18-4C3C-8D2A-260092A3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E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B5490-AB57-49F7-AD2E-84611F6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7628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33E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9DCD7-BDC7-4FBE-B656-790F821C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515 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B3763-F839-4252-8687-31A6C1BA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860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129 validation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4000500"/>
          <a:ext xmlns:a="http://schemas.openxmlformats.org/drawingml/2006/main" cx="9715500" cy="1285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3238500"/>
                <a:gridCol w="3238500"/>
              </a:tblGrid>
              <a:tr h="428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ED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solidFill>
                      <a:srgbClr val="071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ED"/>
                          </a:solidFill>
                          <a:latin typeface="Arial"/>
                          <a:ea typeface="Arial"/>
                          <a:cs typeface="Arial"/>
                        </a:rPr>
                        <a:t>Разбиение</a:t>
                      </a:r>
                    </a:p>
                  </a:txBody>
                  <a:tcPr marL="91440" marR="91440" marT="45720" marB="45720">
                    <a:solidFill>
                      <a:srgbClr val="071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6F5ED"/>
                          </a:solidFill>
                          <a:latin typeface="Arial"/>
                          <a:ea typeface="Arial"/>
                          <a:cs typeface="Arial"/>
                        </a:rPr>
                        <a:t>Защита от пересечения</a:t>
                      </a:r>
                    </a:p>
                  </a:txBody>
                  <a:tcPr marL="91440" marR="91440" marT="45720" marB="45720">
                    <a:solidFill>
                      <a:srgbClr val="071C2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313D"/>
                          </a:solidFill>
                          <a:latin typeface="Arial"/>
                          <a:ea typeface="Arial"/>
                          <a:cs typeface="Arial"/>
                        </a:rPr>
                        <a:t>AF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313D"/>
                          </a:solidFill>
                          <a:latin typeface="Arial"/>
                          <a:ea typeface="Arial"/>
                          <a:cs typeface="Arial"/>
                        </a:rPr>
                        <a:t>336 train / 84 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313D"/>
                          </a:solidFill>
                          <a:latin typeface="Arial"/>
                          <a:ea typeface="Arial"/>
                          <a:cs typeface="Arial"/>
                        </a:rPr>
                        <a:t>Изолированы геосетки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313D"/>
                          </a:solidFill>
                          <a:latin typeface="Arial"/>
                          <a:ea typeface="Arial"/>
                          <a:cs typeface="Arial"/>
                        </a:rPr>
                        <a:t>BS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313D"/>
                          </a:solidFill>
                          <a:latin typeface="Arial"/>
                          <a:ea typeface="Arial"/>
                          <a:cs typeface="Arial"/>
                        </a:rPr>
                        <a:t>179 train / 45 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313D"/>
                          </a:solidFill>
                          <a:latin typeface="Arial"/>
                          <a:ea typeface="Arial"/>
                          <a:cs typeface="Arial"/>
                        </a:rPr>
                        <a:t>Изолированы события и геосетки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C55DA-93C3-4834-81B8-DC49B73E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Координаты, даты, ID событий и test metadata не входят в признаки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184501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9197A-C045-4B77-8634-44FBBF8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E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78257-FBC5-4522-9A6F-06740A1F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Промежуточные метрики на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15544-B1B1-4972-9495-ECB3A879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FIREWATCH  /  КОСМОХАКАТОН 2026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F4B67-8BED-40CE-8BF7-B24C74A7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A8D6C7"/>
                </a:solidFill>
                <a:latin typeface="Arial"/>
                <a:ea typeface="Arial"/>
                <a:cs typeface="Arial"/>
              </a:rPr>
              <a:t>Валидация на зафиксированном открытом train-разбиении. Не закрытый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C5CBB-1949-4E18-A630-522F147D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AE7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AE72"/>
                </a:solidFill>
                <a:latin typeface="Arial"/>
                <a:ea typeface="Arial"/>
                <a:cs typeface="Arial"/>
              </a:rPr>
              <a:t>0.9295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D2E4A-0FFB-4C30-BF66-F817C3C6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F1 активного горения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3E8D8-7582-4790-8658-8A347409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AE7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AE72"/>
                </a:solidFill>
                <a:latin typeface="Arial"/>
                <a:ea typeface="Arial"/>
                <a:cs typeface="Arial"/>
              </a:rPr>
              <a:t>0.5768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6117A-0588-491E-8986-0C70DB5D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IoU площади гари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67F88-DD08-48B6-98EE-78172CBF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145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AE7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AE72"/>
                </a:solidFill>
                <a:latin typeface="Arial"/>
                <a:ea typeface="Arial"/>
                <a:cs typeface="Arial"/>
              </a:rPr>
              <a:t>0.5851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D9617-04CF-4BD6-A5B9-AF6F482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89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mIoU классов тяжести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94CED-0140-40A6-98F1-598B929D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D9C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711A4-268D-4327-B521-FAE3C976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193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0.7027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75B24-7DF3-43A0-BD10-CDDEBDE0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34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итоговый validation Score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09600" y="3857625"/>
          <a:ext xmlns:a="http://schemas.openxmlformats.org/drawingml/2006/main" cx="57150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5953ac5de84c76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A0AD5-0B26-40FA-AEE7-8934DD0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Прирост BS: +0.2129 IoU гари; +0.2308 mIoU тяжести.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22F5C-49BE-4423-9CB5-17C3BF8E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CPU offline smoke: 4 сцены,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1ABDE-0939-4100-86CD-085FB629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dNBR comparator не является официальным baseline. CPU replay v2 прошёл на 129 validation-чипах; результаты не оценивают закрытый test.</a:t>
            </a:r>
          </a:p>
        </p:txBody>
      </p:sp>
    </p:spTree>
    <p:extLst>
      <p:ext uri="{BB962C8B-B14F-4D97-AF65-F5344CB8AC3E}">
        <p14:creationId xmlns:p14="http://schemas.microsoft.com/office/powerpoint/2010/main" val="138696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43E8E-23AF-4CEC-B84E-978ABA5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5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752BF-5C40-482C-8586-D4E98FAE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Сервис и демонстрационный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48DEB-4F7E-48E4-BF25-23649AD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FIREWATCH  /  КОСМОХАКАТОН 2026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ABEBF-3F85-401B-BAF5-E76983EE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Пользователь выбирает область и период, запускает AF, BS или обе задачи, затем получает слои, площади и экспорт.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BFC53-D358-48A5-A23A-951E976E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DC7D7-081B-4F23-86C8-905A38E5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B5B30-424B-4EF6-A55E-718FD34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812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9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Выбор AOI</a:t>
            </a:r>
          </a:p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и периода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282FC-3862-478D-876A-CF33D6FE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9E5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44FC6-0BCE-4127-BED0-6E4A532C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1C1E0-9D35-4045-A2DF-F995A2E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242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9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Запуск</a:t>
            </a:r>
          </a:p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задания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C9A3D-A716-4036-ADA2-4CDC5A0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DF154-77CD-4DA2-8D50-2BCB4C20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841BB-6A7D-4F2D-8BFF-11C6CA6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671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9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Проверка</a:t>
            </a:r>
          </a:p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статуса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13902-36EC-4570-80EA-214C68C6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B2E65-93A1-4E75-B9EC-BB2B8551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EF4DB-EF9B-49CE-B1D6-5BDA2D87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01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79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Карта и</a:t>
            </a:r>
          </a:p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артефакты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7a8f2c7f84336"/>
          <a:stretch xmlns:a="http://schemas.openxmlformats.org/drawingml/2006/main"/>
        </p:blipFill>
        <p:spPr>
          <a:xfrm xmlns:a="http://schemas.openxmlformats.org/drawingml/2006/main">
            <a:off x="4266248" y="2333625"/>
            <a:ext cx="5897880" cy="3686175"/>
          </a:xfrm>
          <a:prstGeom xmlns:a="http://schemas.openxmlformats.org/drawingml/2006/main" prst="roundRect">
            <a:avLst>
              <a:gd name="adj" fmla="val 310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A72D6-4C82-4EDB-A8A1-14C9FC3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769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68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Реальный UI: official-ensemble-v2, BS_tr_000159, 938,5 га, покрытие 25,4%. Train/validation-демо, не закрытый test.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02504-52D8-4078-890F-15CA176D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24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Граница корректности: «нет данных» не означает «нет пожара». Готовность модели сервис сообщает отдельно от доступности API.</a:t>
            </a:r>
          </a:p>
        </p:txBody>
      </p:sp>
    </p:spTree>
    <p:extLst>
      <p:ext uri="{BB962C8B-B14F-4D97-AF65-F5344CB8AC3E}">
        <p14:creationId xmlns:p14="http://schemas.microsoft.com/office/powerpoint/2010/main" val="180369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C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8DFB6-2168-4AA9-8D22-1702D4E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E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BABBF-E921-4965-8014-05EB79BC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Проверяемое решение, а не только карта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FA0EE-526B-4092-9E2A-354FBE76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FIREWATCH  /  КОСМОХАКАТОН 2026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81491-782F-423F-B1DB-7F0577A0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238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9A16A-B875-44C1-9D18-995B711E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Контракт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CD380-93F6-470E-96F8-F28F9444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28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Каналы, классы, размер, геосетки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162E1-70A8-4D42-93CD-8BE70B2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38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ABD8B-0E07-4AB9-9C84-F34F7B8B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Конкурсный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D7402-418C-4F81-8DCC-47D29852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669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sample_submission, порядок, RLE round-trip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88134-89D2-4596-B955-2BF8750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238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46842-8F1F-48D0-B7AA-F9E86959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Model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80D24-E2DA-4B45-9CD5-63D022A5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05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manifest, SHA-256, совместимость входов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94ABF-414C-42EC-9576-E3FE84E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238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07475-E796-45EE-9CFF-2FB60944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BB701-C60A-4CD2-AE0F-039A0DB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43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валидация AOI, jobs, статусы, GeoJSON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C1F25-22E9-4836-97FF-956A6EEF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238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3E4A"/>
          </a:solidFill>
          <a:ln xmlns:a="http://schemas.openxmlformats.org/drawingml/2006/main" w="9525">
            <a:solidFill>
              <a:srgbClr val="4C777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523B6-0FE7-4DE4-A7D7-7DB42B63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080FD-A173-4B0E-8845-5E564EB5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815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6F5E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6F5ED"/>
                </a:solidFill>
                <a:latin typeface="Arial"/>
                <a:ea typeface="Arial"/>
                <a:cs typeface="Arial"/>
              </a:rPr>
              <a:t>состояния, карта, экспорт, ошибки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45FFF-A26F-4054-9306-5B3DC5A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8D6C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8D6C7"/>
                </a:solidFill>
                <a:latin typeface="Arial"/>
                <a:ea typeface="Arial"/>
                <a:cs typeface="Arial"/>
              </a:rPr>
              <a:t>V2: CLI 447 строк за 540,3 с; CPU replay 129 validation-чипов: PASS. Это не организаторский speed score.</a:t>
            </a:r>
          </a:p>
        </p:txBody>
      </p:sp>
    </p:spTree>
    <p:extLst>
      <p:ext uri="{BB962C8B-B14F-4D97-AF65-F5344CB8AC3E}">
        <p14:creationId xmlns:p14="http://schemas.microsoft.com/office/powerpoint/2010/main" val="4508659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B9B1F-B0A4-4DAA-9E51-E6AE32A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5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33D9A-DF57-4FD4-8968-CE8AC0BE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Честные ограничения и следующий шаг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552AC-9C57-4DE2-99FA-AEEF1E92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FIREWATCH  /  КОСМОХАКАТОН 2026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6A309-7D24-4843-BA76-67DCBC34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857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D9276-7AE7-488B-90D2-2A1458FE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ЧТО УЖЕ В РЕПОЗИТОРИИ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96602-0C08-4577-B847-A84070EC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3905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Исходники моделей и сервиса</a:t>
            </a:r>
          </a:p>
          <a:p xmlns:a="http://schemas.openxmlformats.org/drawingml/2006/main">
            <a:pPr algn="l">
              <a:defRPr sz="17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Контрактные тесты</a:t>
            </a:r>
          </a:p>
          <a:p xmlns:a="http://schemas.openxmlformats.org/drawingml/2006/main">
            <a:pPr algn="l">
              <a:defRPr sz="17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Зафиксированный split</a:t>
            </a:r>
          </a:p>
          <a:p xmlns:a="http://schemas.openxmlformats.org/drawingml/2006/main">
            <a:pPr algn="l">
              <a:defRPr sz="17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Инструкции запуска</a:t>
            </a:r>
          </a:p>
          <a:p xmlns:a="http://schemas.openxmlformats.org/drawingml/2006/main">
            <a:pPr algn="l">
              <a:defRPr sz="17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Архитектура и протокол оценки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E43A-245C-4450-B9A8-6D7AD650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4857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9E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BFB0E-03C7-4B39-9A58-83507712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ОСТАЛОСЬ ЗАВЕРШИТЬ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9D39B-1420-4572-9DBB-C3B29C6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Сравнение BS-кандидатов</a:t>
            </a:r>
          </a:p>
          <a:p xmlns:a="http://schemas.openxmlformats.org/drawingml/2006/main">
            <a:pPr algn="l">
              <a:defRPr sz="1725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Итоговая поставка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22ABA-CBB9-42D5-B6F1-1FE93BA3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1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13D"/>
                </a:solidFill>
                <a:latin typeface="Arial"/>
                <a:ea typeface="Arial"/>
                <a:cs typeface="Arial"/>
              </a:rPr>
              <a:t>Публичный E2E, rollback и parity CPU Windows/Linux на 4 сценах: PASS.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D3F82-F8E5-48A5-82C0-642B3928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754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754C"/>
                </a:solidFill>
                <a:latin typeface="Arial"/>
                <a:ea typeface="Arial"/>
                <a:cs typeface="Arial"/>
              </a:rPr>
              <a:t>Команда 4_th_try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2AF94-2CB6-4B8F-8199-13CF2280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3E4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33E44"/>
                </a:solidFill>
                <a:latin typeface="Arial"/>
                <a:ea typeface="Arial"/>
                <a:cs typeface="Arial"/>
              </a:rPr>
              <a:t>Git сохраняет этапы разработки: исходники, документацию, CI и историю версий. Данные, веса и секреты остаются вне Git.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F1C16-FD91-4367-BE74-9C1DF067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685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Конкурсный репозиторий: GitVerse · FireWatch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2F098-8A21-4EDC-9109-A03E6E5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885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727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F7279"/>
                </a:solidFill>
                <a:latin typeface="Arial"/>
                <a:ea typeface="Arial"/>
                <a:cs typeface="Arial"/>
              </a:rPr>
              <a:t>Зеркало разработки: GitHub · https://github.com/foxxed20-ux/firewatch</a:t>
            </a:r>
          </a:p>
        </p:txBody>
      </p:sp>
    </p:spTree>
    <p:extLst>
      <p:ext uri="{BB962C8B-B14F-4D97-AF65-F5344CB8AC3E}">
        <p14:creationId xmlns:p14="http://schemas.microsoft.com/office/powerpoint/2010/main" val="1374137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2026-09-19T13:15:59.6830000Z</dcterms:created>
  <dcterms:modified xsi:type="dcterms:W3CDTF">2026-09-19T13:15:59.6840000Z</dcterms:modified>
</coreProperties>
</file>